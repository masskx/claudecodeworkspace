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视觉基础模型的五个路标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ResNet → Transformer → ViT → CLIP → DDPM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汇报人：×××　　组会示例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 分钟 · 5 篇论文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先说结论（30 秒）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这五篇讲的是同一件事：谁来提供“视觉的先验”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结构先验让位给规模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108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ResNet 解决“深了训不动”；ViT 几乎不加图像先验，靠大规模预训练追平并超过 CNN。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79" y="196596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69748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监督信号从标签换成语言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611880"/>
            <a:ext cx="3108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CLIP 用 4 亿图文对预训练，用文字当接口，零样本做分类。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3736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19" y="196596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69748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生成是另一条线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611880"/>
            <a:ext cx="3108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DDPM 用逐步去噪生成图像，样本质量高、训练稳，代价是采样步数多。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对我们课题：先把“强预训练模型 + 线性探测”跑出来当基线，再谈改进。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为什么是这五篇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按时间看，这五篇各占一个位置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46120"/>
            <a:ext cx="10515600" cy="54864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108960"/>
            <a:ext cx="320040" cy="3200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2015.12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965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让网络越深越好训练</a:t>
            </a:r>
          </a:p>
        </p:txBody>
      </p:sp>
      <p:sp>
        <p:nvSpPr>
          <p:cNvPr id="9" name="Oval 8"/>
          <p:cNvSpPr/>
          <p:nvPr/>
        </p:nvSpPr>
        <p:spPr>
          <a:xfrm>
            <a:off x="3794759" y="3108960"/>
            <a:ext cx="320040" cy="3200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46888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2017.06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1188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4114800"/>
            <a:ext cx="1965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只用注意力，去掉循环和卷积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3108960"/>
            <a:ext cx="320040" cy="3200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46888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2020.06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61188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DDPM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114800"/>
            <a:ext cx="1965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用逐步去噪生成高质量图像</a:t>
            </a:r>
          </a:p>
        </p:txBody>
      </p:sp>
      <p:sp>
        <p:nvSpPr>
          <p:cNvPr id="17" name="Oval 16"/>
          <p:cNvSpPr/>
          <p:nvPr/>
        </p:nvSpPr>
        <p:spPr>
          <a:xfrm>
            <a:off x="8458199" y="3108960"/>
            <a:ext cx="320040" cy="3200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46888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2020.10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61188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ViT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114800"/>
            <a:ext cx="1965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把图像切成 patch，直接喂给 Transformer</a:t>
            </a:r>
          </a:p>
        </p:txBody>
      </p:sp>
      <p:sp>
        <p:nvSpPr>
          <p:cNvPr id="21" name="Oval 20"/>
          <p:cNvSpPr/>
          <p:nvPr/>
        </p:nvSpPr>
        <p:spPr>
          <a:xfrm>
            <a:off x="10789919" y="3108960"/>
            <a:ext cx="320040" cy="3200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46888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2021.02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361188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CLIP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114800"/>
            <a:ext cx="1965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用自然语言监督学视觉，零样本迁移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时间取自论文在 arXiv 的首版日期（年月）。汇报顺序是 ResNet → Transformer → ViT → CLIP → DDPM，便于讲清“视觉骨干”这条主线。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怎么读：每篇一页，问题 → 做法 → 最关键的证据 → 作者承认的局限。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1 / 5 · 2015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ResNet：让网络越深越好训练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He, Zhang, Ren, Sun · Deep Residual Learning for Image Recognition（arXiv:1512.03385）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网络加深后训练误差反而升高（退化问题）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不是过拟合，是优化困难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把层改写成学习残差 F(x)，输出 F(x) + x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快捷连接不增加参数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4023360" cy="2423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057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75688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039112"/>
            <a:ext cx="1097280" cy="5029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权重层 F(x)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057400"/>
            <a:ext cx="411480" cy="4572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75688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05740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F(x) +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4320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↳ 快捷连接：把 x 直接加到输出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加了快捷连接，参数量不变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783080"/>
            <a:ext cx="2953512" cy="16916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1828800"/>
            <a:ext cx="2743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25.03% vs 28.54%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6060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ImageNet 34 层，有/无残差的 top-1 错误率，参数量相同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43400"/>
            <a:ext cx="4023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152 层单模型 top-5 验证错误 4.49%；集成 3.57%，拿下 ILSVRC 2015 分类第一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11880"/>
            <a:ext cx="29535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局限（论文里能看到的）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31920"/>
            <a:ext cx="295351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为什么深的普通网络难优化，作者写“留待未来研究”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CIFAR-10 上 1202 层变差，作者归因于过拟合（19.4M 参数对小数据集太大）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一句话带走：深度能不能用上，取决于优化是否顺畅；残差连接成为后来几乎所有视觉骨干的默认件。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2 / 5 · 2017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Transformer：只用注意力，去掉循环和卷积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Vaswani et al. · Attention Is All You Need（arXiv:1706.03762）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循环网络难并行，长距离依赖路径长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翻译任务需要更快、更准的序列模型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多头自注意力 + 前馈层堆叠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位置编码补充顺序信息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4023360" cy="2423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205740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前馈层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69748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多头自注意力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33756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输入 + 位置编码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51760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× N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86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没有循环，没有卷积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783080"/>
            <a:ext cx="2953512" cy="16916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1828800"/>
            <a:ext cx="2743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28.4 BLEU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6060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WMT14 英德翻译，超过此前最好结果（含集成）2 BLEU 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43400"/>
            <a:ext cx="4023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英法 41.8 BLEU；大模型在 8 块 P100 上训练 3.5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611880"/>
            <a:ext cx="29535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局限（论文里能看到的）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931920"/>
            <a:ext cx="295351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自注意力每层复杂度 O(n²·d)，序列越长越贵（论文 Table 1）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作者计划研究局部、受限注意力来处理图像、音频、视频等大输入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一句话带走：它提供了一个可并行、可扩展的通用骨干，后面的视觉、多模态工作都踩在它上面。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3 / 5 · 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ViT：把图像切成 patch，直接喂给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Dosovitskiy et al. · An Image Is Worth 16x16 Words（arXiv:2010.11929）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视觉里 CNN 仍占主导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已有“注意力 + CNN”方案不易在硬件上扩展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图像切成 16×16 的 patch，线性嵌入成序列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标准 Transformer 编码器，尽量少改动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4023360" cy="2423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057400"/>
            <a:ext cx="347472" cy="347472"/>
          </a:xfrm>
          <a:prstGeom prst="rect">
            <a:avLst/>
          </a:prstGeom>
          <a:solidFill>
            <a:srgbClr val="D9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7488" y="2057400"/>
            <a:ext cx="347472" cy="347472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31536" y="2057400"/>
            <a:ext cx="347472" cy="347472"/>
          </a:xfrm>
          <a:prstGeom prst="rect">
            <a:avLst/>
          </a:prstGeom>
          <a:solidFill>
            <a:srgbClr val="D9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441448"/>
            <a:ext cx="347472" cy="347472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7488" y="2441448"/>
            <a:ext cx="347472" cy="347472"/>
          </a:xfrm>
          <a:prstGeom prst="rect">
            <a:avLst/>
          </a:prstGeom>
          <a:solidFill>
            <a:srgbClr val="D9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31536" y="2441448"/>
            <a:ext cx="347472" cy="347472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825496"/>
            <a:ext cx="347472" cy="347472"/>
          </a:xfrm>
          <a:prstGeom prst="rect">
            <a:avLst/>
          </a:prstGeom>
          <a:solidFill>
            <a:srgbClr val="D9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488" y="2825496"/>
            <a:ext cx="347472" cy="347472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31536" y="2825496"/>
            <a:ext cx="347472" cy="347472"/>
          </a:xfrm>
          <a:prstGeom prst="rect">
            <a:avLst/>
          </a:prstGeom>
          <a:solidFill>
            <a:srgbClr val="D9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4231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23160"/>
            <a:ext cx="475488" cy="4114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2423160"/>
            <a:ext cx="475488" cy="4114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423160"/>
            <a:ext cx="475488" cy="4114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423160"/>
            <a:ext cx="475488" cy="4114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1752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Transformer 编码器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9184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切成 patch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783080"/>
            <a:ext cx="2953512" cy="16916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1828800"/>
            <a:ext cx="2743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88.55%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6060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ImageNet 准确率（ViT-H/14，JFT-300M 预训练后迁移）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43400"/>
            <a:ext cx="4023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预训练算力约 2.5k TPUv3 core-days；对比 BiT-L 9.9k、Noisy Student 12.3k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611880"/>
            <a:ext cx="29535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局限（论文里能看到的）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931920"/>
            <a:ext cx="295351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中等规模数据（如 ImageNet）无强正则时，比同等大小 ResNet 低几个百分点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检测、分割等任务作者留作未来工作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一句话带走：作者的原话：大规模训练胜过归纳偏置。数据和预训练规模，决定 Transformer 能不能赢 CNN。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4 / 5 · 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CLIP：用自然语言监督学视觉，零样本迁移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Radford et al. · Learning Transferable Visual Models From Natural Language Supervision（arXiv:2103.00020）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视觉系统只会预测固定类别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新概念需要新标注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在 4 亿（图像，文本）对上，预测哪段文字配哪张图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推理时用文字描述类别，做零样本分类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4023360" cy="2423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057400"/>
            <a:ext cx="1188720" cy="4114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图像编码器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606040"/>
            <a:ext cx="1188720" cy="41148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文本编码器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4231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411480" cy="3474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057400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2057400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057400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41448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441448"/>
            <a:ext cx="411480" cy="3474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2441448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441448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25496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2825496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2825496"/>
            <a:ext cx="411480" cy="3474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2825496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209544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3209544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3209544"/>
            <a:ext cx="411480" cy="34747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3209544"/>
            <a:ext cx="411480" cy="3474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703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对角线 = 配对的图文；其余都是负例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783080"/>
            <a:ext cx="2953512" cy="16916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1828800"/>
            <a:ext cx="2743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76.2%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6060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ImageNet 零样本准确率，与原版 ResNet-50 相当，且没用 128 万张标注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343400"/>
            <a:ext cx="4023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在 30 多个数据集上评测，多数任务可迁移，常与全监督基线相当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11880"/>
            <a:ext cx="29535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局限（论文里能看到的）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931920"/>
            <a:ext cx="295351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作者估计零样本要达到整体最优，约需 1000 倍算力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细粒度分类（车型、花、飞机）和计数较差；真正分布外的数据泛化差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一句话带走：让文字当接口：不重训就能指定新任务，这是后来多模态大模型的重要起点。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5 / 5 · 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DDPM：用逐步去噪生成高质量图像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Ho, Jain, Abbeel · Denoising Diffusion Probabilistic Models（arXiv:2006.11239）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生成模型的样本质量与训练稳定性难兼顾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需要一个不靠对抗训练的高质量方案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657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前向逐步加噪，网络学习逆向去噪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加权的变分下界，与去噪得分匹配建立联系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4023360" cy="24231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057400"/>
            <a:ext cx="566928" cy="56692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42616"/>
            <a:ext cx="5669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x0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3248" y="2057400"/>
            <a:ext cx="566928" cy="56692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2642616"/>
            <a:ext cx="5669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x1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5" y="2057400"/>
            <a:ext cx="566928" cy="56692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2642616"/>
            <a:ext cx="5669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12864" y="2057400"/>
            <a:ext cx="566928" cy="566928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2642616"/>
            <a:ext cx="5669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1" y="2057400"/>
            <a:ext cx="566928" cy="56692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642616"/>
            <a:ext cx="5669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7180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→ 逐步加噪（前向）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33756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← 学习逐步去噪（生成）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783080"/>
            <a:ext cx="2953512" cy="16916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1828800"/>
            <a:ext cx="2743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FID 3.17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6060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CIFAR-10 无条件生成（IS 9.46）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4023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LSUN 256×256 样本质量与 ProgressiveGAN 相近；所有实验设 T = 1000 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611880"/>
            <a:ext cx="295351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局限（论文里能看到的）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931920"/>
            <a:ext cx="295351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采样要做约 1000 次网络评估（T = 1000）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• 论文发现，大部分无损码长花在人眼看不见的细节上（第 4.3 节）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一句话带走：生成这条线的起点之一：质量好、训练稳，代价是采样要走很多步（论文里 T = 1000）。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放在一起看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五篇的“问题—做法—证据—局限”对照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2651760"/>
                <a:gridCol w="2377440"/>
                <a:gridCol w="2286000"/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要解决的问题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核心做法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最关键的证据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已知局限</a:t>
                      </a:r>
                    </a:p>
                  </a:txBody>
                  <a:tcPr anchor="ctr" marL="73152" marR="73152">
                    <a:solidFill>
                      <a:srgbClr val="2A78D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ResNet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网络加深后训练误差反而升高（退化问题）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把层改写成学习残差 F(x)，输出 F(x) + 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25.03% vs 28.54%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为什么深的普通网络难优化，作者写“留待未来研究”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Transformer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循环网络难并行，长距离依赖路径长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多头自注意力 + 前馈层堆叠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28.4 BLEU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自注意力每层复杂度 O(n²·d)，序列越长越贵（论文 Table 1）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视觉里 CNN 仍占主导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图像切成 16×16 的 patch，线性嵌入成序列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88.55%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中等规模数据（如 ImageNet）无强正则时，比同等大小 ResNet 低几个百分点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视觉系统只会预测固定类别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4 亿（图像，文本）对上，预测哪段文字配哪张图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76.2%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作者估计零样本要达到整体最优，约需 1000 倍算力</a:t>
                      </a:r>
                    </a:p>
                  </a:txBody>
                  <a:tcPr anchor="ctr" marL="73152" marR="73152">
                    <a:solidFill>
                      <a:srgbClr val="F5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DDPM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生成模型的样本质量与训练稳定性难兼顾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前向逐步加噪，网络学习逆向去噪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FID 3.17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采样要做约 1000 次网络评估（T = 1000）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共同点：每篇都有一个清楚的反例或代价，不是只有成绩。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示例页：换成你自己的课题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对我们课题的启发和下周计划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启发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783080"/>
            <a:ext cx="59436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基线：把预训练模型 + 线性探测作为新基线，先看我们的方法还剩多少空间。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启发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34639"/>
            <a:ext cx="59436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数据：ViT 和 CLIP 都说明规模和数据很关键；我们的数据量够不够，要先估一下。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79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启发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886199"/>
            <a:ext cx="59436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评估：几篇都在多个数据集上评估；我们除了本组数据，要加一个外部数据集。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410712" cy="30632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下周计划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1089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跑通预训练模型 + 线性探测基线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整理一版数据说明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找一个外部数据集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• 下次组会汇报基线结果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016752"/>
            <a:ext cx="107899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需要老师拍板的：基线用哪个预训练模型？外部数据集从哪里拿？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备用页：老师可能会问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提前备好的回答（来自论文原文）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931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ViT 为什么在 ImageNet 上不如 ResNet？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91640"/>
            <a:ext cx="7040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没有强正则时，ViT 比同等大小的 ResNet 低几个百分点；论文认为缺少平移等变性、局部性等归纳偏置，数据不够时泛化差；预训练到 1400 万–3 亿张图后情况反转。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496312"/>
            <a:ext cx="11091672" cy="0"/>
          </a:xfrm>
          <a:prstGeom prst="line">
            <a:avLst/>
          </a:prstGeom>
          <a:ln w="12700">
            <a:solidFill>
              <a:srgbClr val="E3E6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2532888"/>
            <a:ext cx="3931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ResNet 的 3.57% 是单模型吗？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32888"/>
            <a:ext cx="7040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不是，是集成的 ILSVRC 2015 测试集 top-5 错误率；152 层单模型验证集 top-5 是 4.49%。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337560"/>
            <a:ext cx="11091672" cy="0"/>
          </a:xfrm>
          <a:prstGeom prst="line">
            <a:avLst/>
          </a:prstGeom>
          <a:ln w="12700">
            <a:solidFill>
              <a:srgbClr val="E3E6E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3374136"/>
            <a:ext cx="3931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CLIP 的零样本是怎么做的？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74136"/>
            <a:ext cx="7040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把类别名写成文字，用文本编码器得到类别向量，和图像向量比相似度，选最像的。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178808"/>
            <a:ext cx="11091672" cy="0"/>
          </a:xfrm>
          <a:prstGeom prst="line">
            <a:avLst/>
          </a:prstGeom>
          <a:ln w="12700">
            <a:solidFill>
              <a:srgbClr val="E3E6EC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4215384"/>
            <a:ext cx="3931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DDPM 的 FID 3.17 是在什么设置下？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15384"/>
            <a:ext cx="7040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CIFAR-10，无条件生成；所有实验设 T = 1000。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020056"/>
            <a:ext cx="11091672" cy="0"/>
          </a:xfrm>
          <a:prstGeom prst="line">
            <a:avLst/>
          </a:prstGeom>
          <a:ln w="12700">
            <a:solidFill>
              <a:srgbClr val="E3E6E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5056632"/>
            <a:ext cx="3931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Transformer 的主要代价是什么？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56632"/>
            <a:ext cx="704088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B"/>
                </a:solidFill>
                <a:latin typeface="Microsoft YaHei"/>
                <a:ea typeface="Microsoft YaHei"/>
                <a:cs typeface="Microsoft YaHei"/>
              </a:rPr>
              <a:t>自注意力每层复杂度 O(n²·d)，序列长了会很贵（论文 Table 1）。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861304"/>
            <a:ext cx="11091672" cy="0"/>
          </a:xfrm>
          <a:prstGeom prst="line">
            <a:avLst/>
          </a:prstGeom>
          <a:ln w="12700">
            <a:solidFill>
              <a:srgbClr val="E3E6EC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